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 SemiBold"/>
      <p:regular r:id="rId20"/>
      <p:bold r:id="rId21"/>
    </p:embeddedFont>
    <p:embeddedFont>
      <p:font typeface="Oswald"/>
      <p:regular r:id="rId22"/>
      <p:bold r:id="rId23"/>
    </p:embeddedFont>
    <p:embeddedFont>
      <p:font typeface="Tino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Tuan Nguye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SemiBold-regular.fntdata"/><Relationship Id="rId22" Type="http://schemas.openxmlformats.org/officeDocument/2006/relationships/font" Target="fonts/Oswald-regular.fntdata"/><Relationship Id="rId21" Type="http://schemas.openxmlformats.org/officeDocument/2006/relationships/font" Target="fonts/OswaldSemiBold-bold.fntdata"/><Relationship Id="rId24" Type="http://schemas.openxmlformats.org/officeDocument/2006/relationships/font" Target="fonts/Tinos-regular.fntdata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Tinos-italic.fntdata"/><Relationship Id="rId25" Type="http://schemas.openxmlformats.org/officeDocument/2006/relationships/font" Target="fonts/Tinos-bold.fntdata"/><Relationship Id="rId27" Type="http://schemas.openxmlformats.org/officeDocument/2006/relationships/font" Target="fonts/Tino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verage-regular.fntdata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27T08:13:45.880">
    <p:pos x="0" y="0"/>
    <p:text>có thể phải vẽ lại một phiên bản riêng để phục vụ thuyết trình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6f980f91_0_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6f980f9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1594815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1594815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1594815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b1594815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6f980f9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6f980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b1594815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b1594815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1594815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b1594815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6f980f91_0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6f980f9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Tinos"/>
              <a:buChar char="○"/>
              <a:defRPr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Tinos"/>
              <a:buChar char="■"/>
              <a:defRPr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Tinos"/>
              <a:buChar char="●"/>
              <a:defRPr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Tinos"/>
              <a:buChar char="○"/>
              <a:defRPr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Tinos"/>
              <a:buChar char="■"/>
              <a:defRPr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Tinos"/>
              <a:buChar char="●"/>
              <a:defRPr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Tinos"/>
              <a:buChar char="○"/>
              <a:defRPr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Tinos"/>
              <a:buChar char="■"/>
              <a:defRPr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Tinos"/>
                <a:ea typeface="Tinos"/>
                <a:cs typeface="Tinos"/>
                <a:sym typeface="Tino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Customer Churn Analytics And Prediction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latin typeface="Tinos"/>
                <a:ea typeface="Tinos"/>
                <a:cs typeface="Tinos"/>
                <a:sym typeface="Tinos"/>
              </a:rPr>
              <a:t>2026</a:t>
            </a:r>
            <a:endParaRPr>
              <a:latin typeface="Tinos"/>
              <a:ea typeface="Tinos"/>
              <a:cs typeface="Tinos"/>
              <a:sym typeface="Tin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The problem</a:t>
            </a:r>
            <a:endParaRPr/>
          </a:p>
        </p:txBody>
      </p:sp>
      <p:grpSp>
        <p:nvGrpSpPr>
          <p:cNvPr id="66" name="Google Shape;66;p14"/>
          <p:cNvGrpSpPr/>
          <p:nvPr/>
        </p:nvGrpSpPr>
        <p:grpSpPr>
          <a:xfrm>
            <a:off x="3311275" y="1228700"/>
            <a:ext cx="2628925" cy="3416400"/>
            <a:chOff x="431925" y="1304875"/>
            <a:chExt cx="2628925" cy="3416400"/>
          </a:xfrm>
        </p:grpSpPr>
        <p:sp>
          <p:nvSpPr>
            <p:cNvPr id="67" name="Google Shape;67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4"/>
          <p:cNvSpPr txBox="1"/>
          <p:nvPr>
            <p:ph idx="4294967295" type="body"/>
          </p:nvPr>
        </p:nvSpPr>
        <p:spPr>
          <a:xfrm>
            <a:off x="3387675" y="1774125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vi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Customer retention is crucial in e-commerce. The cost of acquiring a new customer is significantly higher than the cost of retaining an existing one.</a:t>
            </a:r>
            <a:endParaRPr i="1"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70" name="Google Shape;70;p14"/>
          <p:cNvGrpSpPr/>
          <p:nvPr/>
        </p:nvGrpSpPr>
        <p:grpSpPr>
          <a:xfrm>
            <a:off x="6199800" y="1228700"/>
            <a:ext cx="2632500" cy="3416400"/>
            <a:chOff x="3320450" y="1304875"/>
            <a:chExt cx="2632500" cy="3416400"/>
          </a:xfrm>
        </p:grpSpPr>
        <p:sp>
          <p:nvSpPr>
            <p:cNvPr id="71" name="Google Shape;71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4"/>
          <p:cNvSpPr txBox="1"/>
          <p:nvPr>
            <p:ph idx="4294967295" type="body"/>
          </p:nvPr>
        </p:nvSpPr>
        <p:spPr>
          <a:xfrm>
            <a:off x="6276125" y="1774125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vi" sz="16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Identify factors influencing customer churn.</a:t>
            </a:r>
            <a:endParaRPr i="1" sz="16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vi" sz="16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Segment customers based on the probability of churn.</a:t>
            </a:r>
            <a:endParaRPr i="1" sz="16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vi" sz="16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Develop predictive models to identify high-risk customers early on.</a:t>
            </a:r>
            <a:endParaRPr i="1" sz="16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i="1" sz="16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74" name="Google Shape;74;p14"/>
          <p:cNvGrpSpPr/>
          <p:nvPr/>
        </p:nvGrpSpPr>
        <p:grpSpPr>
          <a:xfrm>
            <a:off x="419175" y="1228700"/>
            <a:ext cx="2632500" cy="3416400"/>
            <a:chOff x="6212550" y="1304875"/>
            <a:chExt cx="2632500" cy="3416400"/>
          </a:xfrm>
        </p:grpSpPr>
        <p:sp>
          <p:nvSpPr>
            <p:cNvPr id="75" name="Google Shape;75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4"/>
          <p:cNvSpPr txBox="1"/>
          <p:nvPr>
            <p:ph idx="4294967295" type="body"/>
          </p:nvPr>
        </p:nvSpPr>
        <p:spPr>
          <a:xfrm>
            <a:off x="493025" y="1774125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vi" sz="16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Our data tells a story of interaction and dissatisfaction. This analysis helps us understand those "signals."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Dataset Overview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/>
              <a:buChar char="●"/>
            </a:pPr>
            <a:r>
              <a:rPr lang="vi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Source: Kaggle - "E-commerce Customer Behavior Dataset".</a:t>
            </a:r>
            <a:endParaRPr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/>
              <a:buChar char="●"/>
            </a:pPr>
            <a:r>
              <a:rPr lang="vi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Quantity: 50,000 rows of customer data.</a:t>
            </a:r>
            <a:endParaRPr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Oswald"/>
              <a:buChar char="●"/>
            </a:pPr>
            <a:r>
              <a:rPr lang="vi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Key Features:</a:t>
            </a:r>
            <a:endParaRPr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/>
              <a:buChar char="○"/>
            </a:pPr>
            <a:r>
              <a:rPr lang="vi" sz="18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Demographics: Age, Gender, Country, City.</a:t>
            </a:r>
            <a:endParaRPr sz="18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/>
              <a:buChar char="○"/>
            </a:pPr>
            <a:r>
              <a:rPr lang="vi" sz="18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Web Behavior: Session Duration, Pages Per Session, Cart Abandonment Rate.</a:t>
            </a:r>
            <a:endParaRPr sz="18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/>
              <a:buChar char="○"/>
            </a:pPr>
            <a:r>
              <a:rPr lang="vi" sz="18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Interactions: Customer Service Calls, Product Reviews, Social Media Engagement.</a:t>
            </a:r>
            <a:endParaRPr sz="18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/>
              <a:buChar char="○"/>
            </a:pPr>
            <a:r>
              <a:rPr lang="vi" sz="18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Transactions: Total Purchases, Average Order Value, Days Since Last Purchase.</a:t>
            </a:r>
            <a:endParaRPr sz="18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/>
              <a:buChar char="○"/>
            </a:pPr>
            <a:r>
              <a:rPr lang="vi" sz="18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Target Variable: Churned (1: Leave, 0: Stay).</a:t>
            </a:r>
            <a:endParaRPr sz="18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 b="1" sz="1400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b="0" l="11759" r="8138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265500" y="409326"/>
            <a:ext cx="40452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vi" sz="1800">
                <a:solidFill>
                  <a:srgbClr val="CCCCCC"/>
                </a:solidFill>
              </a:rPr>
              <a:t>Objective:</a:t>
            </a:r>
            <a:endParaRPr sz="1800">
              <a:solidFill>
                <a:srgbClr val="CCCCCC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/>
              <a:buChar char="●"/>
            </a:pPr>
            <a:r>
              <a:rPr lang="vi" sz="1800">
                <a:solidFill>
                  <a:srgbClr val="CCCCCC"/>
                </a:solidFill>
              </a:rPr>
              <a:t>To identify which factors are most strongly correlated with customer churn.</a:t>
            </a:r>
            <a:endParaRPr sz="1800"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vi" sz="1800">
                <a:solidFill>
                  <a:srgbClr val="CCCCCC"/>
                </a:solidFill>
              </a:rPr>
              <a:t>Method:</a:t>
            </a:r>
            <a:endParaRPr sz="1800">
              <a:solidFill>
                <a:srgbClr val="CCCCCC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Arial"/>
              <a:buChar char="●"/>
            </a:pPr>
            <a:r>
              <a:rPr lang="vi" sz="1800">
                <a:solidFill>
                  <a:srgbClr val="CCCCCC"/>
                </a:solidFill>
              </a:rPr>
              <a:t>Calculate the Pearson correlation coefficient.</a:t>
            </a:r>
            <a:endParaRPr sz="1800">
              <a:solidFill>
                <a:srgbClr val="CCCC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CCCCCC"/>
              </a:solidFill>
            </a:endParaRPr>
          </a:p>
        </p:txBody>
      </p:sp>
      <p:sp>
        <p:nvSpPr>
          <p:cNvPr id="94" name="Google Shape;94;p17"/>
          <p:cNvSpPr txBox="1"/>
          <p:nvPr>
            <p:ph idx="2" type="body"/>
          </p:nvPr>
        </p:nvSpPr>
        <p:spPr>
          <a:xfrm>
            <a:off x="4892850" y="409300"/>
            <a:ext cx="3837000" cy="406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latin typeface="Oswald"/>
                <a:ea typeface="Oswald"/>
                <a:cs typeface="Oswald"/>
                <a:sym typeface="Oswald"/>
              </a:rPr>
              <a:t>Key findings: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●"/>
            </a:pPr>
            <a:r>
              <a:rPr lang="vi">
                <a:latin typeface="Oswald"/>
                <a:ea typeface="Oswald"/>
                <a:cs typeface="Oswald"/>
                <a:sym typeface="Oswald"/>
              </a:rPr>
              <a:t>Positive correlation :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1" marL="63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○"/>
            </a:pPr>
            <a:r>
              <a:rPr lang="vi" sz="1800">
                <a:latin typeface="Oswald"/>
                <a:ea typeface="Oswald"/>
                <a:cs typeface="Oswald"/>
                <a:sym typeface="Oswald"/>
              </a:rPr>
              <a:t>Customer_Service_Calls (0.29): The more calls, the more likely customers are to leave.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1" marL="63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○"/>
            </a:pPr>
            <a:r>
              <a:rPr lang="vi" sz="1800">
                <a:latin typeface="Oswald"/>
                <a:ea typeface="Oswald"/>
                <a:cs typeface="Oswald"/>
                <a:sym typeface="Oswald"/>
              </a:rPr>
              <a:t>Cart_Abandonment_Rate (0.28): A high cart abandonment rate is a bad sign.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●"/>
            </a:pPr>
            <a:r>
              <a:rPr lang="vi">
                <a:latin typeface="Oswald"/>
                <a:ea typeface="Oswald"/>
                <a:cs typeface="Oswald"/>
                <a:sym typeface="Oswald"/>
              </a:rPr>
              <a:t>Negative correlation: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-342900" lvl="1" marL="63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○"/>
            </a:pPr>
            <a:r>
              <a:rPr lang="vi" sz="1800">
                <a:latin typeface="Oswald"/>
                <a:ea typeface="Oswald"/>
                <a:cs typeface="Oswald"/>
                <a:sym typeface="Oswald"/>
              </a:rPr>
              <a:t>Pages_Per_Session (-0.22) &amp; Session_Duration_Avg (-0.22): More interactions, more loyalty.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  <a:p>
            <a:pPr indent="-342900" lvl="1" marL="63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swald"/>
              <a:buChar char="○"/>
            </a:pPr>
            <a:r>
              <a:rPr lang="vi" sz="1800">
                <a:latin typeface="Oswald"/>
                <a:ea typeface="Oswald"/>
                <a:cs typeface="Oswald"/>
                <a:sym typeface="Oswald"/>
              </a:rPr>
              <a:t>Login_Frequency (-0.20): Frequent logins indicate engagement.</a:t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70025" y="340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rgbClr val="CCCCCC"/>
                </a:solidFill>
              </a:rPr>
              <a:t>The churn rate showed almost no significant difference between genders or quarters of registration. This suggests that behavioral factors are more important.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2" type="body"/>
          </p:nvPr>
        </p:nvSpPr>
        <p:spPr>
          <a:xfrm>
            <a:off x="5694000" y="1152475"/>
            <a:ext cx="313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25" y="1222537"/>
            <a:ext cx="4192650" cy="327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7025" y="1152475"/>
            <a:ext cx="4332701" cy="3385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4230575"/>
            <a:ext cx="67221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800">
                <a:solidFill>
                  <a:srgbClr val="CCCCCC"/>
                </a:solidFill>
              </a:rPr>
              <a:t>Customers who leave (Churned=1) have a significantly higher median number of support calls. This is a strong indicator of dissatisfaction.</a:t>
            </a:r>
            <a:endParaRPr sz="1800"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313" y="164075"/>
            <a:ext cx="4923367" cy="39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vi" sz="2400">
                <a:solidFill>
                  <a:srgbClr val="CCCCCC"/>
                </a:solidFill>
              </a:rPr>
              <a:t>Building </a:t>
            </a:r>
            <a:r>
              <a:rPr b="1" lang="vi" sz="2400">
                <a:solidFill>
                  <a:srgbClr val="CCCCCC"/>
                </a:solidFill>
              </a:rPr>
              <a:t>Logistic Regression </a:t>
            </a:r>
            <a:r>
              <a:rPr b="1" lang="vi" sz="2400">
                <a:solidFill>
                  <a:srgbClr val="CCCCCC"/>
                </a:solidFill>
              </a:rPr>
              <a:t>Model</a:t>
            </a:r>
            <a:endParaRPr b="1" sz="2400"/>
          </a:p>
        </p:txBody>
      </p:sp>
      <p:sp>
        <p:nvSpPr>
          <p:cNvPr id="115" name="Google Shape;115;p20"/>
          <p:cNvSpPr txBox="1"/>
          <p:nvPr>
            <p:ph idx="4294967295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Char char="●"/>
            </a:pPr>
            <a:r>
              <a:rPr lang="vi" sz="14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Model of Choice: Logistic Regression. A good, easy-to-interpret, and effective foundational model for binary classification problems.</a:t>
            </a:r>
            <a:endParaRPr sz="14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Char char="●"/>
            </a:pPr>
            <a:r>
              <a:rPr lang="vi" sz="14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Preparing data for the model: One-Hot Encoding: Convert categorical variables (Gender, City, Country, etc.) into numerical form.</a:t>
            </a:r>
            <a:endParaRPr sz="14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Char char="●"/>
            </a:pPr>
            <a:r>
              <a:rPr lang="vi" sz="14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Standard Scaling: Normalize the variables so they have the same scale.</a:t>
            </a:r>
            <a:endParaRPr sz="14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Char char="●"/>
            </a:pPr>
            <a:r>
              <a:rPr lang="vi" sz="14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Data allocation:</a:t>
            </a:r>
            <a:endParaRPr sz="14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Char char="○"/>
            </a:pPr>
            <a:r>
              <a:rPr lang="vi" sz="14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80% for the Training set.</a:t>
            </a:r>
            <a:endParaRPr sz="14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Arial"/>
              <a:buChar char="○"/>
            </a:pPr>
            <a:r>
              <a:rPr lang="vi" sz="14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20% for the Testing set.</a:t>
            </a:r>
            <a:endParaRPr sz="14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6" name="Google Shape;116;p20"/>
          <p:cNvSpPr txBox="1"/>
          <p:nvPr>
            <p:ph idx="4294967295" type="body"/>
          </p:nvPr>
        </p:nvSpPr>
        <p:spPr>
          <a:xfrm>
            <a:off x="5605050" y="4254475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>
                <a:solidFill>
                  <a:srgbClr val="CCCCC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Recall</a:t>
            </a:r>
            <a:endParaRPr sz="12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5604900" y="1351054"/>
            <a:ext cx="689700" cy="1790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5604900" y="2959975"/>
            <a:ext cx="689700" cy="129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>
            <p:ph idx="4294967295" type="body"/>
          </p:nvPr>
        </p:nvSpPr>
        <p:spPr>
          <a:xfrm>
            <a:off x="5605175" y="3523813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42.4%</a:t>
            </a:r>
            <a:endParaRPr sz="14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0" name="Google Shape;120;p20"/>
          <p:cNvSpPr txBox="1"/>
          <p:nvPr>
            <p:ph idx="4294967295" type="body"/>
          </p:nvPr>
        </p:nvSpPr>
        <p:spPr>
          <a:xfrm>
            <a:off x="6450951" y="4254475"/>
            <a:ext cx="6897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CCCCC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Precision</a:t>
            </a:r>
            <a:endParaRPr sz="10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6451000" y="1351048"/>
            <a:ext cx="689400" cy="1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6451000" y="2465275"/>
            <a:ext cx="689400" cy="17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 txBox="1"/>
          <p:nvPr>
            <p:ph idx="4294967295" type="body"/>
          </p:nvPr>
        </p:nvSpPr>
        <p:spPr>
          <a:xfrm>
            <a:off x="6450975" y="3093125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67.9%</a:t>
            </a:r>
            <a:endParaRPr sz="14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24;p20"/>
          <p:cNvSpPr txBox="1"/>
          <p:nvPr>
            <p:ph idx="4294967295" type="body"/>
          </p:nvPr>
        </p:nvSpPr>
        <p:spPr>
          <a:xfrm>
            <a:off x="7296925" y="4254475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Accuracy</a:t>
            </a:r>
            <a:endParaRPr sz="12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7296825" y="1351077"/>
            <a:ext cx="689400" cy="7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7296825" y="2063575"/>
            <a:ext cx="689400" cy="2191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>
            <p:ph idx="4294967295" type="body"/>
          </p:nvPr>
        </p:nvSpPr>
        <p:spPr>
          <a:xfrm>
            <a:off x="7291038" y="2645575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00000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77.6%</a:t>
            </a:r>
            <a:endParaRPr sz="1400">
              <a:solidFill>
                <a:srgbClr val="00000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8" name="Google Shape;128;p20"/>
          <p:cNvSpPr txBox="1"/>
          <p:nvPr>
            <p:ph idx="4294967295" type="body"/>
          </p:nvPr>
        </p:nvSpPr>
        <p:spPr>
          <a:xfrm>
            <a:off x="8142900" y="4254475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000">
                <a:solidFill>
                  <a:srgbClr val="CCCCC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ROC AUC</a:t>
            </a:r>
            <a:endParaRPr sz="10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8131150" y="1351056"/>
            <a:ext cx="6897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8131300" y="1923750"/>
            <a:ext cx="689400" cy="233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 txBox="1"/>
          <p:nvPr>
            <p:ph idx="4294967295" type="body"/>
          </p:nvPr>
        </p:nvSpPr>
        <p:spPr>
          <a:xfrm>
            <a:off x="8142650" y="2645575"/>
            <a:ext cx="6894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2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0.79 </a:t>
            </a:r>
            <a:endParaRPr sz="12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400">
                <a:solidFill>
                  <a:srgbClr val="CCCCC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Confusion Matrix và ROC Curve</a:t>
            </a:r>
            <a:endParaRPr sz="24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9250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7300" y="1170125"/>
            <a:ext cx="4358846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vi" sz="2400">
                <a:solidFill>
                  <a:srgbClr val="CCCCC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Results:</a:t>
            </a:r>
            <a:endParaRPr sz="24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grpSp>
        <p:nvGrpSpPr>
          <p:cNvPr id="144" name="Google Shape;144;p22"/>
          <p:cNvGrpSpPr/>
          <p:nvPr/>
        </p:nvGrpSpPr>
        <p:grpSpPr>
          <a:xfrm>
            <a:off x="424825" y="1253970"/>
            <a:ext cx="8294372" cy="1597472"/>
            <a:chOff x="424813" y="1177875"/>
            <a:chExt cx="8294372" cy="849900"/>
          </a:xfrm>
        </p:grpSpPr>
        <p:sp>
          <p:nvSpPr>
            <p:cNvPr id="145" name="Google Shape;145;p22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2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22"/>
          <p:cNvSpPr txBox="1"/>
          <p:nvPr>
            <p:ph idx="4294967295" type="body"/>
          </p:nvPr>
        </p:nvSpPr>
        <p:spPr>
          <a:xfrm>
            <a:off x="539675" y="1254432"/>
            <a:ext cx="2422500" cy="15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rgbClr val="00000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Advantages</a:t>
            </a:r>
            <a:endParaRPr>
              <a:solidFill>
                <a:srgbClr val="00000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48" name="Google Shape;148;p22"/>
          <p:cNvSpPr txBox="1"/>
          <p:nvPr>
            <p:ph idx="4294967295" type="body"/>
          </p:nvPr>
        </p:nvSpPr>
        <p:spPr>
          <a:xfrm>
            <a:off x="3480454" y="1254348"/>
            <a:ext cx="5111700" cy="15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vi" sz="14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The model does a very good job of identifying customers </a:t>
            </a:r>
            <a:r>
              <a:rPr b="1" lang="vi" sz="14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who will not leave</a:t>
            </a:r>
            <a:r>
              <a:rPr lang="vi" sz="14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(True Negatives: 6530).</a:t>
            </a:r>
            <a:endParaRPr sz="14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49" name="Google Shape;149;p22"/>
          <p:cNvGrpSpPr/>
          <p:nvPr/>
        </p:nvGrpSpPr>
        <p:grpSpPr>
          <a:xfrm>
            <a:off x="424826" y="3188790"/>
            <a:ext cx="8294360" cy="1597897"/>
            <a:chOff x="424813" y="2075689"/>
            <a:chExt cx="8294360" cy="849900"/>
          </a:xfrm>
        </p:grpSpPr>
        <p:sp>
          <p:nvSpPr>
            <p:cNvPr id="150" name="Google Shape;150;p22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2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22"/>
          <p:cNvSpPr txBox="1"/>
          <p:nvPr>
            <p:ph idx="4294967295" type="body"/>
          </p:nvPr>
        </p:nvSpPr>
        <p:spPr>
          <a:xfrm>
            <a:off x="539675" y="3188958"/>
            <a:ext cx="2422500" cy="15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rgbClr val="00000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Disadvantages</a:t>
            </a:r>
            <a:endParaRPr>
              <a:solidFill>
                <a:srgbClr val="00000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53" name="Google Shape;153;p22"/>
          <p:cNvSpPr txBox="1"/>
          <p:nvPr>
            <p:ph idx="4294967295" type="body"/>
          </p:nvPr>
        </p:nvSpPr>
        <p:spPr>
          <a:xfrm>
            <a:off x="3480449" y="3188987"/>
            <a:ext cx="5111700" cy="15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vi" sz="14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The low recall rate (42.4%) </a:t>
            </a:r>
            <a:r>
              <a:rPr lang="vi" sz="140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is the biggest problem. The model missed a large number of customers who were about to leave (False Negatives: 1664).</a:t>
            </a:r>
            <a:endParaRPr sz="14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400">
                <a:latin typeface="Oswald SemiBold"/>
                <a:ea typeface="Oswald SemiBold"/>
                <a:cs typeface="Oswald SemiBold"/>
                <a:sym typeface="Oswald SemiBold"/>
              </a:rPr>
              <a:t>SUMMARY:</a:t>
            </a:r>
            <a:endParaRPr sz="2400"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Oswald"/>
              <a:buChar char="●"/>
            </a:pPr>
            <a:r>
              <a:rPr b="1" lang="vi" sz="14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Conclude:</a:t>
            </a:r>
            <a:endParaRPr b="1" sz="14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swald"/>
              <a:buChar char="○"/>
            </a:pPr>
            <a:r>
              <a:rPr lang="vi" sz="12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Interaction behavior (time spent, number of pages, login frequency) and signs of dissatisfaction (support calls, abandoned carts) are the strongest predictors of churn.</a:t>
            </a:r>
            <a:endParaRPr sz="12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rgbClr val="CCCCCC"/>
              </a:buClr>
              <a:buSzPts val="1300"/>
              <a:buFont typeface="Oswald"/>
              <a:buChar char="●"/>
            </a:pPr>
            <a:r>
              <a:rPr b="1" lang="vi" sz="13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Propose:</a:t>
            </a:r>
            <a:endParaRPr sz="13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swald"/>
              <a:buChar char="○"/>
            </a:pPr>
            <a:r>
              <a:rPr b="1" lang="vi" sz="12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Customer segmentation and retention:</a:t>
            </a:r>
            <a:endParaRPr b="1" sz="12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Char char="■"/>
            </a:pPr>
            <a:r>
              <a:rPr b="1" lang="vi" sz="12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High-risk segment: Send offers and vouchers to customer groups with a high number of Customer_Service_Calls or a large number of Days_Since_Last_Purchases.</a:t>
            </a:r>
            <a:endParaRPr sz="12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Char char="■"/>
            </a:pPr>
            <a:r>
              <a:rPr b="1" lang="vi" sz="12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Increase engagement: Create personalized email/push notification campaigns to encourage customers to log in and use the app more frequently.</a:t>
            </a:r>
            <a:endParaRPr sz="12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Arial"/>
              <a:buChar char="○"/>
            </a:pPr>
            <a:r>
              <a:rPr b="1" lang="vi" sz="1200">
                <a:solidFill>
                  <a:srgbClr val="CCCCCC"/>
                </a:solidFill>
                <a:latin typeface="Oswald"/>
                <a:ea typeface="Oswald"/>
                <a:cs typeface="Oswald"/>
                <a:sym typeface="Oswald"/>
              </a:rPr>
              <a:t>Monitor "early warning" metrics: Build a dashboard to track key metrics (cart abandonment rate, number of support calls).</a:t>
            </a:r>
            <a:endParaRPr sz="1200">
              <a:solidFill>
                <a:srgbClr val="CCCCCC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>
            <p:ph idx="4294967295" type="title"/>
          </p:nvPr>
        </p:nvSpPr>
        <p:spPr>
          <a:xfrm>
            <a:off x="241700" y="875550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>
                <a:solidFill>
                  <a:schemeClr val="lt1"/>
                </a:solidFill>
              </a:rPr>
              <a:t>Thank you for watching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6" name="Google Shape;166;p24"/>
          <p:cNvSpPr txBox="1"/>
          <p:nvPr>
            <p:ph idx="4294967295" type="title"/>
          </p:nvPr>
        </p:nvSpPr>
        <p:spPr>
          <a:xfrm>
            <a:off x="320250" y="3313950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4800"/>
              <a:t>Q&amp;A</a:t>
            </a:r>
            <a:endParaRPr b="1"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